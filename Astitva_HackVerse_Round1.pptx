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9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40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2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8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9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5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1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3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964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972026"/>
            <a:ext cx="5669280" cy="3504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234440"/>
            <a:ext cx="6858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5F7F2"/>
                </a:solidFill>
                <a:latin typeface="Aptos"/>
              </a:rPr>
              <a:t>ASTITVA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38528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7D730"/>
                </a:solidFill>
                <a:latin typeface="Aptos"/>
              </a:rPr>
              <a:t>Rebuilding Lives. Restoring Identity.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441448"/>
            <a:ext cx="6675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EB7AB"/>
                </a:solidFill>
                <a:latin typeface="Aptos"/>
              </a:rPr>
              <a:t>AI-Powered Life Orchestration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127248"/>
            <a:ext cx="4251960" cy="475488"/>
          </a:xfrm>
          <a:prstGeom prst="roundRect">
            <a:avLst/>
          </a:prstGeom>
          <a:solidFill>
            <a:srgbClr val="181D18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255264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C53C"/>
                </a:solidFill>
                <a:latin typeface="Aptos"/>
              </a:rPr>
              <a:t>HACKVERSE 2.0  •  EVAL ROUND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977639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2"/>
                </a:solidFill>
                <a:latin typeface="Aptos"/>
              </a:rPr>
              <a:t>AI for Sustainable &amp; Social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416552"/>
            <a:ext cx="7863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Problem Understanding  |  Innovation  |  Feasibility  |  Team Coordination</a:t>
            </a:r>
          </a:p>
        </p:txBody>
      </p:sp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5029200"/>
            <a:ext cx="2286000" cy="12865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589788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Team: AADITYA • HARSHIT • RASHI • VARSHA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6199632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EB7AB"/>
                </a:solidFill>
                <a:latin typeface="Aptos"/>
              </a:rPr>
              <a:t>MANIPAL INSTITUTE OF TECHNOLOGY, BENGALURU</a:t>
            </a:r>
          </a:p>
        </p:txBody>
      </p:sp>
      <p:pic>
        <p:nvPicPr>
          <p:cNvPr id="17" name="Picture 16" descr="image10.png">
            <a:extLst>
              <a:ext uri="{FF2B5EF4-FFF2-40B4-BE49-F238E27FC236}">
                <a16:creationId xmlns:a16="http://schemas.microsoft.com/office/drawing/2014/main" id="{322B5D15-93C6-278D-F8E9-0A745B48B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0" y="3655475"/>
            <a:ext cx="5669280" cy="3504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2"/>
                </a:solidFill>
                <a:latin typeface="Aptos"/>
              </a:rPr>
              <a:t>1.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B7D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Support exists. Navigation doesn't.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BC53C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9e56187b-eac9-4d84-8e5d-0633833091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90372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508760"/>
            <a:ext cx="3840480" cy="434340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2F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703881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EBC53C"/>
                </a:solidFill>
                <a:latin typeface="Aptos"/>
              </a:rPr>
              <a:t>WHY THE CURRENT SYSTEM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993048"/>
            <a:ext cx="3063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7F2"/>
                </a:solidFill>
                <a:latin typeface="Aptos"/>
              </a:defRPr>
            </a:pPr>
            <a:r>
              <a:rPr dirty="0"/>
              <a:t>• Services are spread across government, legal, healthcare, NGO, employment and finance systems.</a:t>
            </a:r>
          </a:p>
          <a:p>
            <a:pPr>
              <a:spcAft>
                <a:spcPts val="500"/>
              </a:spcAft>
              <a:defRPr sz="1500">
                <a:solidFill>
                  <a:srgbClr val="F5F7F2"/>
                </a:solidFill>
                <a:latin typeface="Aptos"/>
              </a:defRPr>
            </a:pPr>
            <a:r>
              <a:rPr dirty="0"/>
              <a:t>• Users must discover services, check eligibility, collect documents and coordinate agencies themselves.</a:t>
            </a:r>
          </a:p>
          <a:p>
            <a:pPr>
              <a:spcAft>
                <a:spcPts val="500"/>
              </a:spcAft>
              <a:defRPr sz="1500">
                <a:solidFill>
                  <a:srgbClr val="F5F7F2"/>
                </a:solidFill>
                <a:latin typeface="Aptos"/>
              </a:defRPr>
            </a:pPr>
            <a:r>
              <a:rPr dirty="0"/>
              <a:t>• In crisis, this creates decision fatigue, delays and low utilization of available support.</a:t>
            </a:r>
          </a:p>
          <a:p>
            <a:pPr>
              <a:spcAft>
                <a:spcPts val="500"/>
              </a:spcAft>
              <a:defRPr sz="1500">
                <a:solidFill>
                  <a:srgbClr val="F5F7F2"/>
                </a:solidFill>
                <a:latin typeface="Aptos"/>
              </a:defRPr>
            </a:pPr>
            <a:r>
              <a:rPr dirty="0"/>
              <a:t>• The gap is not the absence of services — it is the absence of intelligent navigation.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44068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EB7AB"/>
                </a:solidFill>
                <a:latin typeface="Aptos"/>
              </a:rPr>
              <a:t>Core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5975604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B7D730"/>
                </a:solidFill>
                <a:latin typeface="Aptos"/>
              </a:rPr>
              <a:t>INFORMATION INEQUALITY → NAVIGATION INEQUALITY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2881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7AB"/>
                </a:solidFill>
                <a:latin typeface="Aptos"/>
              </a:rPr>
              <a:t>HACKVERSE 2.0 • Eval Round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BC53C"/>
                </a:solidFill>
                <a:latin typeface="Aptos"/>
              </a:rPr>
              <a:t>ASTITVA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2"/>
                </a:solidFill>
                <a:latin typeface="Aptos"/>
              </a:rPr>
              <a:t>2. Our Understanding of the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B7D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From crisis → clarity → action → independence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BC53C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6583680" cy="91440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2C3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190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C53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64207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2"/>
                </a:solidFill>
                <a:latin typeface="Aptos"/>
              </a:rPr>
              <a:t>Crisis / transition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36776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Abuse, widowhood, dependency, career break, abandonment, single parenthood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42032"/>
            <a:ext cx="6583680" cy="91440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2C3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75234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C53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79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2"/>
                </a:solidFill>
                <a:latin typeface="Aptos"/>
              </a:rPr>
              <a:t>Fragmented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70048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Legal + health + welfare + finance + employment information lives in silos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75303"/>
            <a:ext cx="6583680" cy="91440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2C3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785615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C53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307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2"/>
                </a:solidFill>
                <a:latin typeface="Aptos"/>
              </a:rPr>
              <a:t>Decision overload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03320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What is urgent? What am I eligible for? What documents do I need first?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08575"/>
            <a:ext cx="6583680" cy="91440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2C3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8188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C53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64023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2"/>
                </a:solidFill>
                <a:latin typeface="Aptos"/>
              </a:rPr>
              <a:t>Long-term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736591"/>
            <a:ext cx="3429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Support should evolve as the user's situation and progress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508760"/>
            <a:ext cx="3886200" cy="4480560"/>
          </a:xfrm>
          <a:prstGeom prst="roundRect">
            <a:avLst/>
          </a:prstGeom>
          <a:solidFill>
            <a:srgbClr val="181D18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955279" y="17830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C53C"/>
                </a:solidFill>
                <a:latin typeface="Aptos"/>
              </a:rPr>
              <a:t>DESIGN EVOLUTION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233172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Information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331720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33172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Personalization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063239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Personalization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3063239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063239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Prioritization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794759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Prioritization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3794759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794759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526279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Orchestration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526279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526279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Adaptation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2419" y="5284986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B7D730"/>
                </a:solidFill>
                <a:latin typeface="Aptos"/>
              </a:rPr>
              <a:t>Astitva is deliberately NOT a generic chatbot.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994" y="6097475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AEB7AB"/>
                </a:solidFill>
                <a:latin typeface="Aptos"/>
              </a:rPr>
              <a:t>It converts a complex life situation into an ordered, explainable action pathway.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2881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7AB"/>
                </a:solidFill>
                <a:latin typeface="Aptos"/>
              </a:rPr>
              <a:t>HACKVERSE 2.0 • Eval Round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BC53C"/>
                </a:solidFill>
                <a:latin typeface="Aptos"/>
              </a:rPr>
              <a:t>ASTITVA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2"/>
                </a:solidFill>
                <a:latin typeface="Aptos"/>
              </a:rPr>
              <a:t>3.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B7D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Astitva turns fragmented support into a living recovery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BC53C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057400" cy="15087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2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3A3BEA-5A28-0792-342E-C483F49ABF56}"/>
              </a:ext>
            </a:extLst>
          </p:cNvPr>
          <p:cNvGrpSpPr/>
          <p:nvPr/>
        </p:nvGrpSpPr>
        <p:grpSpPr>
          <a:xfrm>
            <a:off x="630936" y="2148840"/>
            <a:ext cx="1801368" cy="978408"/>
            <a:chOff x="630936" y="2148840"/>
            <a:chExt cx="1801368" cy="978408"/>
          </a:xfrm>
        </p:grpSpPr>
        <p:sp>
          <p:nvSpPr>
            <p:cNvPr id="8" name="TextBox 7"/>
            <p:cNvSpPr txBox="1"/>
            <p:nvPr/>
          </p:nvSpPr>
          <p:spPr>
            <a:xfrm>
              <a:off x="630936" y="2148840"/>
              <a:ext cx="1801368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200" b="1" dirty="0">
                  <a:solidFill>
                    <a:srgbClr val="EBC53C"/>
                  </a:solidFill>
                  <a:latin typeface="Aptos"/>
                </a:rPr>
                <a:t>USER CONTEXT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7512" y="2578608"/>
              <a:ext cx="1728216" cy="5486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200" b="0" dirty="0">
                  <a:solidFill>
                    <a:srgbClr val="F5F7F2"/>
                  </a:solidFill>
                  <a:latin typeface="Aptos"/>
                </a:rPr>
                <a:t>Situation, needs,
constraints, goals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78608" y="24048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74519"/>
            <a:ext cx="2057400" cy="15087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2656" y="2148840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BC53C"/>
                </a:solidFill>
                <a:latin typeface="Aptos"/>
              </a:rPr>
              <a:t>LIFE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578608"/>
            <a:ext cx="17282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7F2"/>
                </a:solidFill>
                <a:latin typeface="Aptos"/>
              </a:rPr>
              <a:t>Structured,
evolving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7" y="24048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74519"/>
            <a:ext cx="2057400" cy="15087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2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94375" y="2148840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BC53C"/>
                </a:solidFill>
                <a:latin typeface="Aptos"/>
              </a:rPr>
              <a:t>VERIFIED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578608"/>
            <a:ext cx="17282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7F2"/>
                </a:solidFill>
                <a:latin typeface="Aptos"/>
              </a:rPr>
              <a:t>Trusted schemes,
legal + NGO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7" y="24048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74519"/>
            <a:ext cx="2057400" cy="15087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6096" y="2148840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BC53C"/>
                </a:solidFill>
                <a:latin typeface="Aptos"/>
              </a:rPr>
              <a:t>DECISION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578608"/>
            <a:ext cx="17282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7F2"/>
                </a:solidFill>
                <a:latin typeface="Aptos"/>
              </a:rPr>
              <a:t>Urgency + eligibility
+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7" y="24048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2057400" cy="15087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57816" y="2148840"/>
            <a:ext cx="1801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BC53C"/>
                </a:solidFill>
                <a:latin typeface="Aptos"/>
              </a:rPr>
              <a:t>LIFE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578608"/>
            <a:ext cx="17282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5F7F2"/>
                </a:solidFill>
                <a:latin typeface="Aptos"/>
              </a:rPr>
              <a:t>Prioritized steps,
milestones + outcomes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4160520"/>
            <a:ext cx="8183879" cy="1097280"/>
          </a:xfrm>
          <a:prstGeom prst="roundRect">
            <a:avLst/>
          </a:prstGeom>
          <a:solidFill>
            <a:srgbClr val="181D18"/>
          </a:solidFill>
          <a:ln w="12700">
            <a:solidFill>
              <a:srgbClr val="404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40280" y="4425696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2"/>
                </a:solidFill>
                <a:latin typeface="Aptos"/>
              </a:rPr>
              <a:t>USER COMPLETES MILESTONE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407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42569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2"/>
                </a:solidFill>
                <a:latin typeface="Aptos"/>
              </a:rPr>
              <a:t>PROGRESS IS UPDATED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40740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7D730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4425696"/>
            <a:ext cx="2331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BC53C"/>
                </a:solidFill>
                <a:latin typeface="Aptos"/>
              </a:rPr>
              <a:t>ROADMAP RECALCULATES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532120"/>
            <a:ext cx="8503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EB7AB"/>
                </a:solidFill>
                <a:latin typeface="Aptos"/>
              </a:rPr>
              <a:t>Think: “Google Maps for Life Recovery” — the next step changes when the situation changes.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7AB"/>
                </a:solidFill>
                <a:latin typeface="Aptos"/>
              </a:rPr>
              <a:t>HACKVERSE 2.0 • Eval Round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BC53C"/>
                </a:solidFill>
                <a:latin typeface="Aptos"/>
              </a:rPr>
              <a:t>ASTITVA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2"/>
                </a:solidFill>
                <a:latin typeface="Aptos"/>
              </a:rPr>
              <a:t>4. 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B7D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Designed around controlled orchestration, verified retrieval and adaptive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BC53C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f45eeaf4-1067-4686-a5ba-e79be64061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763524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417320"/>
            <a:ext cx="3154680" cy="452628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53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6916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C53C"/>
                </a:solidFill>
                <a:latin typeface="Aptos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2148840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2"/>
                </a:solidFill>
                <a:latin typeface="Aptos"/>
              </a:rPr>
              <a:t>React +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651760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928" y="2651760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2"/>
                </a:solidFill>
                <a:latin typeface="Aptos"/>
              </a:rPr>
              <a:t>FastAPI (Python)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154680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3154680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2"/>
                </a:solidFill>
                <a:latin typeface="Aptos"/>
              </a:rPr>
              <a:t>LangGraph StateGraph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657600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3657600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2"/>
                </a:solidFill>
                <a:latin typeface="Aptos"/>
              </a:rPr>
              <a:t>IBM Granite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160520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4160520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2"/>
                </a:solidFill>
                <a:latin typeface="Aptos"/>
              </a:rPr>
              <a:t>Hybrid RAG + ChromaDB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663440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4663440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2"/>
                </a:solidFill>
                <a:latin typeface="Aptos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5166359"/>
            <a:ext cx="9601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5166359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7F2"/>
                </a:solidFill>
                <a:latin typeface="Aptos"/>
              </a:rPr>
              <a:t>Roadmap + Milestone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548640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EB7AB"/>
                </a:solidFill>
                <a:latin typeface="Aptos"/>
              </a:rPr>
              <a:t>Key engineering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9203" y="6065716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7D730"/>
                </a:solidFill>
                <a:latin typeface="Aptos"/>
              </a:rPr>
              <a:t>Stateful orchestration lets the system remember progress and route each request to the right domain agent.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7AB"/>
                </a:solidFill>
                <a:latin typeface="Aptos"/>
              </a:rPr>
              <a:t>HACKVERSE 2.0 • Eval Round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BC53C"/>
                </a:solidFill>
                <a:latin typeface="Aptos"/>
              </a:rPr>
              <a:t>ASTITVA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2"/>
                </a:solidFill>
                <a:latin typeface="Aptos"/>
              </a:rPr>
              <a:t>5. What Makes It Novel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B7D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Innovation is in the decision layer — not simply in adding a chatbot.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BC53C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017520" cy="169164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9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67335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C53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45919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Life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Not a directory. Generates a personalized, step-by-step recovery pathway.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508760"/>
            <a:ext cx="3017520" cy="169164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9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3672" y="167335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C53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645919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Decision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7568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Ranks actions using urgency, eligibility, dependencies and context: Safety → Stability → Growth.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508760"/>
            <a:ext cx="3017520" cy="169164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9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1" y="167335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C53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645919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Multi-Agent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207568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Domain agents handle legal, healthcare, finance, employment and government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017520" cy="169164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9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82219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C53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947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Verified + Explainable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22452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RAG grounds answers in trusted sources; each recommendation carries reason, eligibility and source.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657600"/>
            <a:ext cx="3017520" cy="169164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9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33672" y="382219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C53C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7947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Adaptive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22452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Completed milestones change the state; the next-best action is recalculated.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3657600"/>
            <a:ext cx="3017520" cy="169164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9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1" y="3822191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C53C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7947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2"/>
                </a:solidFill>
                <a:latin typeface="Aptos"/>
              </a:rPr>
              <a:t>Accessible by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59" y="4224528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Simple language, multilingual/voice-ready, mobile-first and low-bandwidth compatible.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2881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7AB"/>
                </a:solidFill>
                <a:latin typeface="Aptos"/>
              </a:rPr>
              <a:t>HACKVERSE 2.0 • Eval Round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BC53C"/>
                </a:solidFill>
                <a:latin typeface="Aptos"/>
              </a:rPr>
              <a:t>ASTITVA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2"/>
                </a:solidFill>
                <a:latin typeface="Aptos"/>
              </a:rPr>
              <a:t>6. Feasibility, Roadmap &amp;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B7D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Start focused; expand after the core loop is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BC53C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7178040" cy="1024128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1848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63624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2"/>
                </a:solidFill>
                <a:latin typeface="Aptos"/>
              </a:rPr>
              <a:t>Core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27048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Onboarding • profile • verified government data • scheme eligibility • basic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32888"/>
            <a:ext cx="7178040" cy="1024128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2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3405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7919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2"/>
                </a:solidFill>
                <a:latin typeface="Aptos"/>
              </a:rPr>
              <a:t>Agentic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42616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Supervisor + Government/Legal/Finance/Employment/Healthcare routing • milestone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48456"/>
            <a:ext cx="7178040" cy="1024128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2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496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9476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2"/>
                </a:solidFill>
                <a:latin typeface="Aptos"/>
              </a:rPr>
              <a:t>Adaptive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58184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Feedback loop • multilingual/voice • accessibility • NGO/case-worker workflows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64024"/>
            <a:ext cx="7178040" cy="1024128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2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9651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91032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2"/>
                </a:solidFill>
                <a:latin typeface="Aptos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873752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EB7AB"/>
                </a:solidFill>
                <a:latin typeface="Aptos"/>
              </a:rPr>
              <a:t>More domains • more regions • dashboards • low-bandwidth/offline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417320"/>
            <a:ext cx="3429000" cy="4800600"/>
          </a:xfrm>
          <a:prstGeom prst="roundRect">
            <a:avLst/>
          </a:prstGeom>
          <a:solidFill>
            <a:srgbClr val="181D18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71907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C53C"/>
                </a:solidFill>
                <a:latin typeface="Aptos"/>
              </a:rP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148840"/>
            <a:ext cx="2697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5F7F2"/>
                </a:solidFill>
                <a:latin typeface="Aptos"/>
              </a:defRPr>
            </a:pPr>
            <a:r>
              <a:t>• Same orchestration pattern can support other vulnerable populations.</a:t>
            </a:r>
          </a:p>
          <a:p>
            <a:pPr>
              <a:spcAft>
                <a:spcPts val="500"/>
              </a:spcAft>
              <a:defRPr sz="1300">
                <a:solidFill>
                  <a:srgbClr val="F5F7F2"/>
                </a:solidFill>
                <a:latin typeface="Aptos"/>
              </a:defRPr>
            </a:pPr>
            <a:r>
              <a:t>• NGOs can track beneficiary journeys and outcomes.</a:t>
            </a:r>
          </a:p>
          <a:p>
            <a:pPr>
              <a:spcAft>
                <a:spcPts val="500"/>
              </a:spcAft>
              <a:defRPr sz="1300">
                <a:solidFill>
                  <a:srgbClr val="F5F7F2"/>
                </a:solidFill>
                <a:latin typeface="Aptos"/>
              </a:defRPr>
            </a:pPr>
            <a:r>
              <a:t>• Governments can identify scheme-utilization and policy gaps.</a:t>
            </a:r>
          </a:p>
          <a:p>
            <a:pPr>
              <a:spcAft>
                <a:spcPts val="500"/>
              </a:spcAft>
              <a:defRPr sz="1300">
                <a:solidFill>
                  <a:srgbClr val="F5F7F2"/>
                </a:solidFill>
                <a:latin typeface="Aptos"/>
              </a:defRPr>
            </a:pPr>
            <a:r>
              <a:t>• Future deployment can use containers and cloud scaling.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9953" y="4261104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AEB7AB"/>
                </a:solidFill>
                <a:latin typeface="Aptos"/>
              </a:rPr>
              <a:t>SDG ALIGNMENT</a:t>
            </a:r>
          </a:p>
        </p:txBody>
      </p:sp>
      <p:pic>
        <p:nvPicPr>
          <p:cNvPr id="27" name="Picture 26" descr="imag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413" y="4550960"/>
            <a:ext cx="749808" cy="749808"/>
          </a:xfrm>
          <a:prstGeom prst="rect">
            <a:avLst/>
          </a:prstGeom>
        </p:spPr>
      </p:pic>
      <p:pic>
        <p:nvPicPr>
          <p:cNvPr id="28" name="Picture 27" descr="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101" y="4550960"/>
            <a:ext cx="749808" cy="749808"/>
          </a:xfrm>
          <a:prstGeom prst="rect">
            <a:avLst/>
          </a:prstGeom>
        </p:spPr>
      </p:pic>
      <p:pic>
        <p:nvPicPr>
          <p:cNvPr id="29" name="Picture 28" descr="imag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789" y="4550960"/>
            <a:ext cx="749808" cy="749808"/>
          </a:xfrm>
          <a:prstGeom prst="rect">
            <a:avLst/>
          </a:prstGeom>
        </p:spPr>
      </p:pic>
      <p:pic>
        <p:nvPicPr>
          <p:cNvPr id="30" name="Picture 29" descr="image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13" y="5364776"/>
            <a:ext cx="749808" cy="749808"/>
          </a:xfrm>
          <a:prstGeom prst="rect">
            <a:avLst/>
          </a:prstGeom>
        </p:spPr>
      </p:pic>
      <p:pic>
        <p:nvPicPr>
          <p:cNvPr id="31" name="Picture 30" descr="image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1101" y="5364776"/>
            <a:ext cx="749808" cy="749808"/>
          </a:xfrm>
          <a:prstGeom prst="rect">
            <a:avLst/>
          </a:prstGeom>
        </p:spPr>
      </p:pic>
      <p:pic>
        <p:nvPicPr>
          <p:cNvPr id="32" name="Picture 31" descr="image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789" y="5364776"/>
            <a:ext cx="749808" cy="7498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652881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7AB"/>
                </a:solidFill>
                <a:latin typeface="Aptos"/>
              </a:rPr>
              <a:t>HACKVERSE 2.0 • Eval Round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BC53C"/>
                </a:solidFill>
                <a:latin typeface="Aptos"/>
              </a:rPr>
              <a:t>ASTITVA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2"/>
                </a:solidFill>
                <a:latin typeface="Aptos"/>
              </a:rPr>
              <a:t>7. Team Coordination &amp; Round 1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B7D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7AB"/>
                </a:solidFill>
                <a:latin typeface="Aptos"/>
              </a:rPr>
              <a:t>Four people, four workstreams, one integrated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4206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EBC53C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606040" cy="28803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6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257975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5F7F2"/>
                </a:solidFill>
                <a:latin typeface="Aptos"/>
              </a:rPr>
              <a:t>AADITYA BHATTACHARJEE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79183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7D730"/>
                </a:solidFill>
                <a:latin typeface="Aptos"/>
              </a:rPr>
              <a:t>AI /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72375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7AB"/>
                </a:solidFill>
                <a:latin typeface="Aptos"/>
              </a:rPr>
              <a:t>Primary owner + peer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417320"/>
            <a:ext cx="2606040" cy="28803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6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2257975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2"/>
                </a:solidFill>
                <a:latin typeface="Aptos"/>
              </a:rPr>
              <a:t>HARSHIT BADERA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779183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7D730"/>
                </a:solidFill>
                <a:latin typeface="Aptos"/>
              </a:rPr>
              <a:t>Backend /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172375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7AB"/>
                </a:solidFill>
                <a:latin typeface="Aptos"/>
              </a:rPr>
              <a:t>Primary owner + peer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417320"/>
            <a:ext cx="2606040" cy="28803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6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2257975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2"/>
                </a:solidFill>
                <a:latin typeface="Aptos"/>
              </a:rPr>
              <a:t>RASHI GOYAL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779183"/>
            <a:ext cx="2148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B7D730"/>
                </a:solidFill>
                <a:latin typeface="Aptos"/>
              </a:rPr>
              <a:t>Product / </a:t>
            </a:r>
            <a:r>
              <a:rPr lang="en-IN" sz="1100" b="1" dirty="0">
                <a:solidFill>
                  <a:srgbClr val="B7D730"/>
                </a:solidFill>
                <a:latin typeface="Aptos"/>
              </a:rPr>
              <a:t>Research</a:t>
            </a:r>
            <a:endParaRPr sz="1100" b="1" dirty="0">
              <a:solidFill>
                <a:srgbClr val="B7D73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01384" y="3172375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EB7AB"/>
                </a:solidFill>
                <a:latin typeface="Aptos"/>
              </a:rPr>
              <a:t>Primary owner + peer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417320"/>
            <a:ext cx="2606040" cy="2880360"/>
          </a:xfrm>
          <a:prstGeom prst="roundRect">
            <a:avLst/>
          </a:prstGeom>
          <a:solidFill>
            <a:srgbClr val="111512"/>
          </a:solidFill>
          <a:ln w="12700">
            <a:solidFill>
              <a:srgbClr val="363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2257975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7F2"/>
                </a:solidFill>
                <a:latin typeface="Aptos"/>
              </a:rPr>
              <a:t>VARSHA ANGADI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779183"/>
            <a:ext cx="2148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100" b="1" dirty="0">
                <a:solidFill>
                  <a:srgbClr val="B7D730"/>
                </a:solidFill>
                <a:latin typeface="Aptos"/>
              </a:rPr>
              <a:t>UI</a:t>
            </a:r>
            <a:r>
              <a:rPr sz="1100" b="1" dirty="0">
                <a:solidFill>
                  <a:srgbClr val="B7D730"/>
                </a:solidFill>
                <a:latin typeface="Aptos"/>
              </a:rPr>
              <a:t> /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172375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dirty="0">
                <a:solidFill>
                  <a:srgbClr val="AEB7AB"/>
                </a:solidFill>
                <a:latin typeface="Aptos"/>
              </a:rPr>
              <a:t>Primary owner + peer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09160"/>
            <a:ext cx="10927080" cy="1325880"/>
          </a:xfrm>
          <a:prstGeom prst="roundRect">
            <a:avLst/>
          </a:prstGeom>
          <a:solidFill>
            <a:srgbClr val="181D18"/>
          </a:solidFill>
          <a:ln w="12700">
            <a:solidFill>
              <a:srgbClr val="B7D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9560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3036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7F2"/>
                </a:solidFill>
                <a:latin typeface="Aptos"/>
              </a:rPr>
              <a:t>Clear gap: support exists, navigation doesn't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9560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INNOVATION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23036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7F2"/>
                </a:solidFill>
                <a:latin typeface="Aptos"/>
              </a:rPr>
              <a:t>Life orchestration + decision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9560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FEASIBILITY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23036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7F2"/>
                </a:solidFill>
                <a:latin typeface="Aptos"/>
              </a:rPr>
              <a:t>Phased MVP → adaptive system →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9560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BC53C"/>
                </a:solidFill>
                <a:latin typeface="Aptos"/>
              </a:rPr>
              <a:t>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230368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7F2"/>
                </a:solidFill>
                <a:latin typeface="Aptos"/>
              </a:rPr>
              <a:t>Shared workstreams + integrated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17220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7D730"/>
                </a:solidFill>
                <a:latin typeface="Aptos"/>
              </a:rPr>
              <a:t>The promise: make the next right step visible when everything feels overwhelming.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2881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EB7AB"/>
                </a:solidFill>
                <a:latin typeface="Aptos"/>
              </a:rPr>
              <a:t>HACKVERSE 2.0 • Eval Round 1 • Thank you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105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EBC53C"/>
                </a:solidFill>
                <a:latin typeface="Aptos"/>
              </a:rPr>
              <a:t>ASTITVA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55</TotalTime>
  <Words>821</Words>
  <Application>Microsoft Office PowerPoint</Application>
  <PresentationFormat>Widescreen</PresentationFormat>
  <Paragraphs>171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Mahesh Angadi</dc:creator>
  <cp:keywords/>
  <dc:description>generated using python-pptx</dc:description>
  <cp:lastModifiedBy>Manjula Mahesh</cp:lastModifiedBy>
  <cp:revision>3</cp:revision>
  <dcterms:created xsi:type="dcterms:W3CDTF">2013-01-27T09:14:16Z</dcterms:created>
  <dcterms:modified xsi:type="dcterms:W3CDTF">2026-08-08T16:36:14Z</dcterms:modified>
  <cp:category/>
</cp:coreProperties>
</file>